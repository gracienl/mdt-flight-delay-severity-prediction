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A93B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ED2B347A-E86F-28D7-DD16-31E5359393F8}"/>
              </a:ext>
            </a:extLst>
          </p:cNvPr>
          <p:cNvSpPr/>
          <p:nvPr/>
        </p:nvSpPr>
        <p:spPr>
          <a:xfrm>
            <a:off x="4093317" y="885590"/>
            <a:ext cx="8226699" cy="242635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BEB6739-9397-EA85-3FCD-884757E847FF}"/>
              </a:ext>
            </a:extLst>
          </p:cNvPr>
          <p:cNvSpPr/>
          <p:nvPr/>
        </p:nvSpPr>
        <p:spPr>
          <a:xfrm>
            <a:off x="78276" y="4285102"/>
            <a:ext cx="3880814" cy="3491332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D3A06A0-AFCC-2C4F-4D46-B18B05109428}"/>
              </a:ext>
            </a:extLst>
          </p:cNvPr>
          <p:cNvSpPr/>
          <p:nvPr/>
        </p:nvSpPr>
        <p:spPr>
          <a:xfrm>
            <a:off x="85342" y="3199594"/>
            <a:ext cx="3873747" cy="1001570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23B4D14-9394-8140-5CD2-8D4E2FACA0AC}"/>
              </a:ext>
            </a:extLst>
          </p:cNvPr>
          <p:cNvSpPr/>
          <p:nvPr/>
        </p:nvSpPr>
        <p:spPr>
          <a:xfrm>
            <a:off x="85344" y="2383738"/>
            <a:ext cx="3873744" cy="73191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7E01816-9830-79E0-D643-182A7694FE35}"/>
              </a:ext>
            </a:extLst>
          </p:cNvPr>
          <p:cNvSpPr/>
          <p:nvPr/>
        </p:nvSpPr>
        <p:spPr>
          <a:xfrm>
            <a:off x="85345" y="909320"/>
            <a:ext cx="3873744" cy="138805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6FC2E48-67B9-58CC-B2D6-84BC2C47C690}"/>
              </a:ext>
            </a:extLst>
          </p:cNvPr>
          <p:cNvSpPr/>
          <p:nvPr/>
        </p:nvSpPr>
        <p:spPr>
          <a:xfrm>
            <a:off x="4094198" y="3380666"/>
            <a:ext cx="4128724" cy="439576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00" cy="8229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20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8448"/>
            <a:ext cx="947599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Flight Arrival Delay Prediction: A Multi-Class Severity Approach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55997" y="495314"/>
            <a:ext cx="554433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DCDCDC"/>
                </a:solidFill>
              </a:defRPr>
            </a:pPr>
            <a:r>
              <a:rPr dirty="0">
                <a:solidFill>
                  <a:schemeClr val="bg1"/>
                </a:solidFill>
                <a:ea typeface="Cambria" panose="02040503050406030204" pitchFamily="18" charset="0"/>
              </a:rPr>
              <a:t>DATA 300 · Statistical and Machine Learning ·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6" y="929640"/>
            <a:ext cx="387374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3864"/>
                </a:solidFill>
              </a:defRPr>
            </a:pPr>
            <a:r>
              <a:rPr sz="1300" dirty="0">
                <a:solidFill>
                  <a:schemeClr val="accent2">
                    <a:lumMod val="75000"/>
                  </a:schemeClr>
                </a:solidFill>
              </a:rPr>
              <a:t>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0" y="1148080"/>
            <a:ext cx="38809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lang="en-US" dirty="0"/>
              <a:t>Using BTS on-time data, this project predicts how severely flights from Harrisburg International (MDT) will be delayed. </a:t>
            </a:r>
            <a:r>
              <a:rPr lang="en-US" dirty="0" err="1"/>
              <a:t>KMeans</a:t>
            </a:r>
            <a:r>
              <a:rPr lang="en-US" dirty="0"/>
              <a:t> clustering sorted delays into four classes — on-time, minor, moderate, and severe — based on actual delay distributions. Three models (Logistic Regression, Random Forest, </a:t>
            </a:r>
            <a:r>
              <a:rPr lang="en-US" dirty="0" err="1"/>
              <a:t>XGBoost</a:t>
            </a:r>
            <a:r>
              <a:rPr lang="en-US" dirty="0"/>
              <a:t>) were trained on features like carrier, destination, departure hour, day of week, distance, and prior-leg delay status.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8100" y="3180461"/>
            <a:ext cx="388098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3864"/>
                </a:solidFill>
              </a:defRPr>
            </a:pPr>
            <a:r>
              <a:rPr sz="1300" dirty="0">
                <a:solidFill>
                  <a:schemeClr val="accent2">
                    <a:lumMod val="75000"/>
                  </a:schemeClr>
                </a:solidFill>
              </a:rPr>
              <a:t>DATA &amp; 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5" y="3472958"/>
            <a:ext cx="40082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lang="en-US" b="1" dirty="0"/>
              <a:t>Dataset:</a:t>
            </a:r>
            <a:r>
              <a:rPr lang="en-US" dirty="0"/>
              <a:t> Bureau of Transportation Statistics (BTS)</a:t>
            </a:r>
          </a:p>
          <a:p>
            <a:pPr>
              <a:defRPr sz="1000"/>
            </a:pPr>
            <a:r>
              <a:rPr lang="en-US" b="1" dirty="0"/>
              <a:t>Scope:</a:t>
            </a:r>
            <a:r>
              <a:rPr lang="en-US" dirty="0"/>
              <a:t> Approx. </a:t>
            </a:r>
            <a:r>
              <a:rPr dirty="0"/>
              <a:t>29,281 departures</a:t>
            </a:r>
            <a:r>
              <a:rPr lang="en-US" dirty="0"/>
              <a:t> from MDT</a:t>
            </a:r>
            <a:br>
              <a:rPr dirty="0"/>
            </a:br>
            <a:r>
              <a:rPr lang="en-US" b="1" dirty="0"/>
              <a:t>Target:</a:t>
            </a:r>
            <a:r>
              <a:rPr lang="en-US" dirty="0"/>
              <a:t> Four levels of delay severity (On-Time, Minor, Moderate, Severe) </a:t>
            </a:r>
            <a:br>
              <a:rPr dirty="0"/>
            </a:br>
            <a:r>
              <a:rPr lang="en-US" dirty="0"/>
              <a:t>M</a:t>
            </a:r>
            <a:r>
              <a:rPr lang="en-US" b="1" dirty="0"/>
              <a:t>ethod: </a:t>
            </a:r>
            <a:r>
              <a:rPr dirty="0"/>
              <a:t>Stratified train/test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6" y="2398377"/>
            <a:ext cx="38808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MOTIVATION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274" y="4291535"/>
            <a:ext cx="388081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FEATURE ENGINEERING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982104"/>
              </p:ext>
            </p:extLst>
          </p:nvPr>
        </p:nvGraphicFramePr>
        <p:xfrm>
          <a:off x="8299348" y="3402004"/>
          <a:ext cx="4020669" cy="4395769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499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1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498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Results</a:t>
                      </a:r>
                      <a:endParaRPr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LR</a:t>
                      </a:r>
                      <a:endParaRPr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RF</a:t>
                      </a:r>
                      <a:endParaRPr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XGB</a:t>
                      </a:r>
                      <a:endParaRPr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4276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Accuracy</a:t>
                      </a:r>
                      <a:endParaRPr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0.0242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FBA93B"/>
                          </a:solidFill>
                        </a:rPr>
                        <a:t>0.6215</a:t>
                      </a:r>
                      <a:endParaRPr sz="1300" dirty="0">
                        <a:solidFill>
                          <a:srgbClr val="FBA93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0.6990</a:t>
                      </a:r>
                      <a:endParaRPr sz="13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750651"/>
                  </a:ext>
                </a:extLst>
              </a:tr>
              <a:tr h="1074276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Weighted F1</a:t>
                      </a:r>
                      <a:endParaRPr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chemeClr val="accent2"/>
                          </a:solidFill>
                        </a:rPr>
                        <a:t>0.0040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0B050"/>
                          </a:solidFill>
                        </a:rPr>
                        <a:t>0.</a:t>
                      </a:r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62</a:t>
                      </a:r>
                      <a:r>
                        <a:rPr sz="1300" dirty="0">
                          <a:solidFill>
                            <a:srgbClr val="00B050"/>
                          </a:solidFill>
                        </a:rPr>
                        <a:t>4</a:t>
                      </a:r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0</a:t>
                      </a:r>
                      <a:endParaRPr sz="13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FBA93B"/>
                          </a:solidFill>
                        </a:rPr>
                        <a:t>0.</a:t>
                      </a:r>
                      <a:r>
                        <a:rPr lang="en-US" sz="1300" dirty="0">
                          <a:solidFill>
                            <a:srgbClr val="FBA93B"/>
                          </a:solidFill>
                        </a:rPr>
                        <a:t>6095</a:t>
                      </a:r>
                      <a:endParaRPr sz="1300" dirty="0">
                        <a:solidFill>
                          <a:srgbClr val="FBA93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8474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Weighted ROC-AUC</a:t>
                      </a:r>
                      <a:endParaRPr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chemeClr val="accent2"/>
                          </a:solidFill>
                        </a:rPr>
                        <a:t>0.</a:t>
                      </a: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5872</a:t>
                      </a:r>
                      <a:endParaRPr sz="13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FBA93B"/>
                          </a:solidFill>
                        </a:rPr>
                        <a:t>0.</a:t>
                      </a:r>
                      <a:r>
                        <a:rPr lang="en-US" sz="1300" dirty="0">
                          <a:solidFill>
                            <a:srgbClr val="FBA93B"/>
                          </a:solidFill>
                        </a:rPr>
                        <a:t>6626</a:t>
                      </a:r>
                      <a:endParaRPr sz="1300" dirty="0">
                        <a:solidFill>
                          <a:srgbClr val="FBA93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0B050"/>
                          </a:solidFill>
                        </a:rPr>
                        <a:t>0.6</a:t>
                      </a:r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869</a:t>
                      </a:r>
                      <a:endParaRPr sz="13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245"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Weighted Average Precision</a:t>
                      </a:r>
                      <a:endParaRPr sz="13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chemeClr val="accent2"/>
                          </a:solidFill>
                        </a:rPr>
                        <a:t>0.</a:t>
                      </a:r>
                      <a:r>
                        <a:rPr lang="en-US" sz="1300" dirty="0">
                          <a:solidFill>
                            <a:schemeClr val="accent2"/>
                          </a:solidFill>
                        </a:rPr>
                        <a:t>5918</a:t>
                      </a:r>
                      <a:endParaRPr sz="1300" dirty="0">
                        <a:solidFill>
                          <a:schemeClr val="accent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FBA93B"/>
                          </a:solidFill>
                        </a:rPr>
                        <a:t>0.6</a:t>
                      </a:r>
                      <a:r>
                        <a:rPr lang="en-US" sz="1300" dirty="0">
                          <a:solidFill>
                            <a:srgbClr val="FBA93B"/>
                          </a:solidFill>
                        </a:rPr>
                        <a:t>447</a:t>
                      </a:r>
                      <a:endParaRPr sz="1300" dirty="0">
                        <a:solidFill>
                          <a:srgbClr val="FBA93B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00B050"/>
                          </a:solidFill>
                        </a:rPr>
                        <a:t>0.6</a:t>
                      </a:r>
                      <a:r>
                        <a:rPr lang="en-US" sz="1300" dirty="0">
                          <a:solidFill>
                            <a:srgbClr val="00B050"/>
                          </a:solidFill>
                        </a:rPr>
                        <a:t>648</a:t>
                      </a:r>
                      <a:endParaRPr sz="1300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20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accent2"/>
              </a:solidFill>
              <a:highlight>
                <a:srgbClr val="FF0000"/>
              </a:highlight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4320" y="7870952"/>
            <a:ext cx="555081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rPr sz="1500" dirty="0"/>
              <a:t>Dataset: U.S. Bureau of Transportation Statistics · Focus Airport: MDT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051A35-CF05-DCAC-49C4-1AF91B822A07}"/>
              </a:ext>
            </a:extLst>
          </p:cNvPr>
          <p:cNvSpPr txBox="1"/>
          <p:nvPr/>
        </p:nvSpPr>
        <p:spPr>
          <a:xfrm>
            <a:off x="457200" y="485154"/>
            <a:ext cx="375122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DCDCDC"/>
                </a:solidFill>
              </a:defRPr>
            </a:pPr>
            <a:r>
              <a:rPr lang="en-US" dirty="0">
                <a:solidFill>
                  <a:schemeClr val="bg1"/>
                </a:solidFill>
                <a:ea typeface="Cambria" panose="02040503050406030204" pitchFamily="18" charset="0"/>
              </a:rPr>
              <a:t>Gracie Nguyen, Leah Ho, Nam Nguyen</a:t>
            </a:r>
            <a:endParaRPr dirty="0">
              <a:solidFill>
                <a:schemeClr val="bg1"/>
              </a:solidFill>
              <a:ea typeface="Cambria" panose="020405030504060302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C15136-2FE5-269F-BC6A-9C6A00413975}"/>
              </a:ext>
            </a:extLst>
          </p:cNvPr>
          <p:cNvSpPr txBox="1"/>
          <p:nvPr/>
        </p:nvSpPr>
        <p:spPr>
          <a:xfrm>
            <a:off x="85346" y="2676264"/>
            <a:ext cx="40416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lang="en-US" dirty="0"/>
              <a:t>Which model yields the best result when it comes to predicting arrival delays for flights departing from MDT?</a:t>
            </a:r>
            <a:endParaRPr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77ED19E-FF51-193D-D42D-66AEC9E26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45" y="4659547"/>
            <a:ext cx="3408889" cy="300864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B2FE67D-C3DD-479A-AD32-3DE839E18BFE}"/>
              </a:ext>
            </a:extLst>
          </p:cNvPr>
          <p:cNvSpPr txBox="1"/>
          <p:nvPr/>
        </p:nvSpPr>
        <p:spPr>
          <a:xfrm>
            <a:off x="4532167" y="909320"/>
            <a:ext cx="21119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LOGISTIC REGRESSION (LR)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4927DAFD-BE3C-C6D6-5138-40329EEB7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490" y="1182916"/>
            <a:ext cx="2568934" cy="20309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0F6583A-E2B8-2F6B-0A2B-433E3861E1A9}"/>
              </a:ext>
            </a:extLst>
          </p:cNvPr>
          <p:cNvSpPr txBox="1"/>
          <p:nvPr/>
        </p:nvSpPr>
        <p:spPr>
          <a:xfrm>
            <a:off x="7322344" y="873398"/>
            <a:ext cx="17302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RANDOM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FOREST (RF)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F007475F-DE77-FD36-4972-9FE5379D9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601" y="1190303"/>
            <a:ext cx="2570645" cy="20322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535D525-93EA-EFE8-3D5F-D56D9E022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9322" y="1182915"/>
            <a:ext cx="2570645" cy="20309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65AA1F1-0FA5-4710-C791-EBCCEE63ED98}"/>
              </a:ext>
            </a:extLst>
          </p:cNvPr>
          <p:cNvSpPr txBox="1"/>
          <p:nvPr/>
        </p:nvSpPr>
        <p:spPr>
          <a:xfrm>
            <a:off x="9789375" y="913498"/>
            <a:ext cx="208005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XGBOOST (XGB)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3B69E214-4288-E04A-6CF6-3F41164F2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6957" y="3651504"/>
            <a:ext cx="3942401" cy="18969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0B815F2-56BB-D0C5-C57B-CE2A614F9834}"/>
              </a:ext>
            </a:extLst>
          </p:cNvPr>
          <p:cNvSpPr txBox="1"/>
          <p:nvPr/>
        </p:nvSpPr>
        <p:spPr>
          <a:xfrm>
            <a:off x="4094198" y="3353200"/>
            <a:ext cx="412872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FEATURES IMPORTANCE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B2992ED-E91B-5C19-88FB-225AC615F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6957" y="5650668"/>
            <a:ext cx="3942401" cy="2066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FB7C50CF-D746-50B9-6D57-9D7DFF8F9133}"/>
              </a:ext>
            </a:extLst>
          </p:cNvPr>
          <p:cNvSpPr/>
          <p:nvPr/>
        </p:nvSpPr>
        <p:spPr>
          <a:xfrm>
            <a:off x="12403192" y="873399"/>
            <a:ext cx="2148931" cy="2326195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B580A3-27C6-476F-C280-2F217F76BD36}"/>
              </a:ext>
            </a:extLst>
          </p:cNvPr>
          <p:cNvSpPr txBox="1"/>
          <p:nvPr/>
        </p:nvSpPr>
        <p:spPr>
          <a:xfrm>
            <a:off x="12403191" y="913498"/>
            <a:ext cx="214186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LIMITATIONS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7174398-35D6-EEBB-84D1-D32A01B54212}"/>
              </a:ext>
            </a:extLst>
          </p:cNvPr>
          <p:cNvSpPr txBox="1"/>
          <p:nvPr/>
        </p:nvSpPr>
        <p:spPr>
          <a:xfrm>
            <a:off x="12403191" y="1144710"/>
            <a:ext cx="2148931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000" dirty="0"/>
              <a:t>• Accurate Severe delay prediction remained difficult</a:t>
            </a:r>
          </a:p>
          <a:p>
            <a:pPr lvl="0"/>
            <a:r>
              <a:rPr lang="en-US" sz="1000" dirty="0"/>
              <a:t>• Minority class recall remained relatively low</a:t>
            </a:r>
          </a:p>
          <a:p>
            <a:pPr lvl="0"/>
            <a:r>
              <a:rPr lang="en-US" sz="1000" dirty="0"/>
              <a:t>• Weather variables were not integrated</a:t>
            </a:r>
          </a:p>
          <a:p>
            <a:pPr lvl="0"/>
            <a:r>
              <a:rPr lang="en-US" sz="1000" dirty="0"/>
              <a:t>• Airport congestion variables were unavailable</a:t>
            </a:r>
          </a:p>
          <a:p>
            <a:pPr lvl="0"/>
            <a:r>
              <a:rPr lang="en-US" sz="1000" dirty="0"/>
              <a:t>• Advanced resampling techniques such as SMOTE were not fully explored</a:t>
            </a:r>
          </a:p>
          <a:p>
            <a:pPr lvl="0"/>
            <a:r>
              <a:rPr lang="en-US" sz="1000" dirty="0"/>
              <a:t>• Historical delay data by airline was not exploited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A76334A-C7E2-38D3-30E3-B6B66026718F}"/>
              </a:ext>
            </a:extLst>
          </p:cNvPr>
          <p:cNvSpPr/>
          <p:nvPr/>
        </p:nvSpPr>
        <p:spPr>
          <a:xfrm>
            <a:off x="12399656" y="3297422"/>
            <a:ext cx="2148931" cy="2611847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8E65085-9AAF-3504-752D-4391B30D7BB2}"/>
              </a:ext>
            </a:extLst>
          </p:cNvPr>
          <p:cNvSpPr txBox="1"/>
          <p:nvPr/>
        </p:nvSpPr>
        <p:spPr>
          <a:xfrm>
            <a:off x="12396443" y="3299525"/>
            <a:ext cx="214186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E70A36-7043-FF46-B476-1F6C44DB8573}"/>
              </a:ext>
            </a:extLst>
          </p:cNvPr>
          <p:cNvSpPr txBox="1"/>
          <p:nvPr/>
        </p:nvSpPr>
        <p:spPr>
          <a:xfrm>
            <a:off x="12403193" y="3508613"/>
            <a:ext cx="214539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000" dirty="0"/>
              <a:t>Ensemble methods substantially outperformed Logistic Regression, which nearly collapsed across all metrics. </a:t>
            </a:r>
            <a:r>
              <a:rPr lang="en-US" sz="1000" dirty="0" err="1"/>
              <a:t>XGBoost</a:t>
            </a:r>
            <a:r>
              <a:rPr lang="en-US" sz="1000" dirty="0"/>
              <a:t> led in accuracy (0.699), weighted ROC-AUC (0.6869), and weighted average precision (0.6648), making it the stronger model for overall discrimination. Random Forest, however, achieved the highest weighted F1-score (0.6240), suggesting better balance across classes, making it the preferred choice when correctly identifying serious delay categories is the operational priority.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EEA67B5-10A8-2A0F-8C2F-0BF1E345ABF7}"/>
              </a:ext>
            </a:extLst>
          </p:cNvPr>
          <p:cNvSpPr/>
          <p:nvPr/>
        </p:nvSpPr>
        <p:spPr>
          <a:xfrm>
            <a:off x="12403193" y="6007097"/>
            <a:ext cx="2148931" cy="177709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26F901C-3931-FE92-A0A7-52052A606D1A}"/>
              </a:ext>
            </a:extLst>
          </p:cNvPr>
          <p:cNvSpPr txBox="1"/>
          <p:nvPr/>
        </p:nvSpPr>
        <p:spPr>
          <a:xfrm>
            <a:off x="12406730" y="6007975"/>
            <a:ext cx="213511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03864"/>
                </a:solidFill>
              </a:defRPr>
            </a:pPr>
            <a:r>
              <a:rPr lang="en-US" sz="1300" dirty="0">
                <a:solidFill>
                  <a:schemeClr val="accent2">
                    <a:lumMod val="75000"/>
                  </a:schemeClr>
                </a:solidFill>
              </a:rPr>
              <a:t>REFERENCE</a:t>
            </a:r>
            <a:endParaRPr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79F476C-2340-9503-6AE7-45AD419B4F28}"/>
              </a:ext>
            </a:extLst>
          </p:cNvPr>
          <p:cNvSpPr txBox="1"/>
          <p:nvPr/>
        </p:nvSpPr>
        <p:spPr>
          <a:xfrm>
            <a:off x="12399656" y="6249569"/>
            <a:ext cx="21453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000" dirty="0"/>
              <a:t>Snell, Kenney, et al. "Predicting Flight Delays Using Machine Learning." (2026).</a:t>
            </a:r>
          </a:p>
          <a:p>
            <a:pPr lvl="0"/>
            <a:endParaRPr lang="en-US" sz="1000" dirty="0"/>
          </a:p>
          <a:p>
            <a:pPr lvl="0"/>
            <a:r>
              <a:rPr lang="en-US" sz="1000" dirty="0"/>
              <a:t>Gui, Guan, et al. "Flight delay prediction based on aviation big data and machine learning." </a:t>
            </a:r>
            <a:r>
              <a:rPr lang="en-US" sz="1000" i="1" dirty="0"/>
              <a:t>IEEE Transactions on Vehicular Technology</a:t>
            </a:r>
            <a:r>
              <a:rPr lang="en-US" sz="1000" dirty="0"/>
              <a:t> 69.1 (2019): 140-150.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413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Nam Nguyen</cp:lastModifiedBy>
  <cp:revision>3</cp:revision>
  <dcterms:created xsi:type="dcterms:W3CDTF">2013-01-27T09:14:16Z</dcterms:created>
  <dcterms:modified xsi:type="dcterms:W3CDTF">2026-05-13T05:49:12Z</dcterms:modified>
  <cp:category/>
</cp:coreProperties>
</file>